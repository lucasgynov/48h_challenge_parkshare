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CD2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847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6CFB85-F1E1-D9F7-AA7D-E7899FE58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0A29BFB-B142-050C-F99C-4820FA6ED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A032EF-F0AC-C424-1E45-B978E488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A4EC-463D-4936-B3DA-1F4898613FE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E75917-32AD-B4C5-7A2E-711ACEC9A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05414A-139E-52BB-2DB2-2FEF4AEF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FF9D5-5BF6-4900-BBCE-B5C17B33BA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6387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C85073-4922-ADCA-7F11-A77C160E4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FC9E3C-F0FF-5E1F-0974-3C4FC1E85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2A51A8-D7DF-43F3-2904-ADF390A21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A4EC-463D-4936-B3DA-1F4898613FE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9AB59A-5AD0-62E2-3107-BAA84E24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288BD2-2E21-C0BA-2C38-752F17F3F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FF9D5-5BF6-4900-BBCE-B5C17B33BA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7057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41759D-1353-809E-3D42-B4D6DA2B8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EE67B8E-1D53-3D9C-8BB6-949A75A91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C3F03E-11B4-627B-4142-B4D2D9DC9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A4EC-463D-4936-B3DA-1F4898613FE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BBEF27-4411-DB80-23AB-ED0EE39F9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68AB6D-2FD9-848F-8E36-E09AD87B2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FF9D5-5BF6-4900-BBCE-B5C17B33BA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54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FBD7C4-FB68-2DC5-F92E-37B48AFE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8269E6-6793-3700-136E-475B266D7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43C8897-256E-33E5-57BB-4A42A84CE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9C4F2D-563B-17B3-5ECB-FC0B1229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A4EC-463D-4936-B3DA-1F4898613FE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189785-E85F-3197-6DDC-55E73F2DF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620A2C-5B01-E68C-389C-757F3FCE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FF9D5-5BF6-4900-BBCE-B5C17B33BA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1634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C5509D-B03D-9DC3-CD17-91278385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C0EEE0-3772-087B-D05F-7955CE5CB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807298-13AF-1645-D369-5B24B58FF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4C3F84F-3535-D203-DBCA-EA04BF88E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95108A-6369-6011-94A1-7F677F527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5D9B4C1-1137-98EE-4F99-0C8B7773A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A4EC-463D-4936-B3DA-1F4898613FE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40BF5E0-37CB-9E56-AD69-055EA814B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05B3333-B689-AE57-3C08-1F695EA8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FF9D5-5BF6-4900-BBCE-B5C17B33BA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9119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5D2F3E-C716-AEED-7F52-C002FF8E9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A8B071F-18D3-8765-C0AE-ECC1326BE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A4EC-463D-4936-B3DA-1F4898613FE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6663DBC-B25F-5F33-D55B-F90DBEF61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51DB3D3-028D-9A72-9718-DD4D096A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FF9D5-5BF6-4900-BBCE-B5C17B33BA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958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6FB59D1-ED6F-7053-491E-C7EA3D7AA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A4EC-463D-4936-B3DA-1F4898613FE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DA6C3D9-517F-1826-46C2-11ACFC0CC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08A930-1AF3-C2B6-B904-D487CE91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FF9D5-5BF6-4900-BBCE-B5C17B33BA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2142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A1A63F-18D1-20A5-21B4-8A50DAC26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99B21F-3887-4C6C-E21B-25D172DED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36C62DD-9CED-9E60-D281-0F8F7F457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2E8E20-7665-3F81-569A-3036E7C54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A4EC-463D-4936-B3DA-1F4898613FE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0B1753-5996-EE00-69B0-5C7D12003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80F873-F0CC-67FF-442D-1EF17CCA2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FF9D5-5BF6-4900-BBCE-B5C17B33BA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797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AE5648-8C30-4B95-16A0-56FD991BC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8C4417E-7586-0375-7A6A-8E3BB33CDF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C204A5A-51F3-C679-5DCC-F8268B4BE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B0A81D-EF01-5076-9076-B1899E5BD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A4EC-463D-4936-B3DA-1F4898613FE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40D35F-1919-416D-3523-34CCAE5E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711F3D-E7C7-47C4-A28A-5D2E50184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FF9D5-5BF6-4900-BBCE-B5C17B33BA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6974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CC537B-C66D-DC1E-CD71-C37F4A459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A4B2BD4-708F-BA59-C53C-56EC504B2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0BBD44-FA6B-CFF6-965F-D1AC59A21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A4EC-463D-4936-B3DA-1F4898613FE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4B8D71-3F27-838A-5ED5-EFC5FE57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CD0E27-1C5F-03CF-2AFE-560F1E53D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FF9D5-5BF6-4900-BBCE-B5C17B33BA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2733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6529CB3-5487-849D-F6B3-E0C9B92038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DB44E03-E458-32E5-BDF0-94B3C3E27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5F3762-C116-93EA-55DD-86CE66E99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A4EC-463D-4936-B3DA-1F4898613FE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45F127-6D3D-E954-7ADF-FAB665B4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E43C3E-6535-EB78-4451-C0D8643B1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FF9D5-5BF6-4900-BBCE-B5C17B33BA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6019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FF3FC90-CD95-B5A6-0F9B-A86F10E2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4C1932-34EA-B91D-DB88-F5EBF912D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0284FB-19F7-799F-88AE-7490ECF0F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69A4EC-463D-4936-B3DA-1F4898613FE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C0FE19-483A-E4B7-4B04-CC90305EF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796BDD-B702-413E-018F-A59ACDE12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7FF9D5-5BF6-4900-BBCE-B5C17B33BA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0903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microsoft.com/office/2007/relationships/hdphoto" Target="../media/hdphoto1.wdp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3.png"/><Relationship Id="rId7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15.svg"/><Relationship Id="rId5" Type="http://schemas.openxmlformats.org/officeDocument/2006/relationships/image" Target="../media/image4.png"/><Relationship Id="rId10" Type="http://schemas.openxmlformats.org/officeDocument/2006/relationships/image" Target="../media/image14.svg"/><Relationship Id="rId4" Type="http://schemas.microsoft.com/office/2007/relationships/hdphoto" Target="../media/hdphoto1.wdp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microsoft.com/office/2007/relationships/hdphoto" Target="../media/hdphoto1.wdp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4.png"/><Relationship Id="rId10" Type="http://schemas.openxmlformats.org/officeDocument/2006/relationships/image" Target="../media/image24.png"/><Relationship Id="rId4" Type="http://schemas.microsoft.com/office/2007/relationships/hdphoto" Target="../media/hdphoto1.wdp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469CD084-5C39-61CA-32B8-A7CDB1611A7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64872" y="0"/>
            <a:ext cx="12279097" cy="7315200"/>
            <a:chOff x="-64872" y="0"/>
            <a:chExt cx="12279097" cy="7315200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250A59F1-FED5-F471-2905-4617C99DDA1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22225" y="0"/>
              <a:ext cx="12236450" cy="2457450"/>
              <a:chOff x="0" y="0"/>
              <a:chExt cx="11842750" cy="2381250"/>
            </a:xfrm>
          </p:grpSpPr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7F393EC0-9451-E075-D6C6-012317D2C74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8" name="Image 7">
                <a:extLst>
                  <a:ext uri="{FF2B5EF4-FFF2-40B4-BE49-F238E27FC236}">
                    <a16:creationId xmlns:a16="http://schemas.microsoft.com/office/drawing/2014/main" id="{DAEABFDC-72B3-51E3-A52B-234A65D0B6F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89E6B141-3DDB-3B51-E791-289C6E7721A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2432050"/>
              <a:ext cx="12236450" cy="2457450"/>
              <a:chOff x="0" y="0"/>
              <a:chExt cx="11842750" cy="2381250"/>
            </a:xfrm>
          </p:grpSpPr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F044560B-5656-BE24-10AC-24E18E97A5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2E36AD62-4F2C-216B-3AE8-B8CAA75D57B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7BBC163E-77D3-88F6-BB88-A4E1D17DCF4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4857750"/>
              <a:ext cx="12236450" cy="2457450"/>
              <a:chOff x="0" y="0"/>
              <a:chExt cx="11842750" cy="2381250"/>
            </a:xfrm>
          </p:grpSpPr>
          <p:pic>
            <p:nvPicPr>
              <p:cNvPr id="14" name="Image 13">
                <a:extLst>
                  <a:ext uri="{FF2B5EF4-FFF2-40B4-BE49-F238E27FC236}">
                    <a16:creationId xmlns:a16="http://schemas.microsoft.com/office/drawing/2014/main" id="{4D408CC2-A327-259F-99AC-98A03D736E6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5" name="Image 14">
                <a:extLst>
                  <a:ext uri="{FF2B5EF4-FFF2-40B4-BE49-F238E27FC236}">
                    <a16:creationId xmlns:a16="http://schemas.microsoft.com/office/drawing/2014/main" id="{0AAF3425-07D0-B483-BE30-FA9CFFFA6C5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</p:grpSp>
      <p:pic>
        <p:nvPicPr>
          <p:cNvPr id="18" name="Image 17">
            <a:extLst>
              <a:ext uri="{FF2B5EF4-FFF2-40B4-BE49-F238E27FC236}">
                <a16:creationId xmlns:a16="http://schemas.microsoft.com/office/drawing/2014/main" id="{884B3E1D-9955-EB8A-5342-C9A7820EB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361" y="1228725"/>
            <a:ext cx="5755277" cy="383535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3591DFE0-220E-61E6-96A2-EA888763A2CC}"/>
              </a:ext>
            </a:extLst>
          </p:cNvPr>
          <p:cNvSpPr txBox="1"/>
          <p:nvPr/>
        </p:nvSpPr>
        <p:spPr>
          <a:xfrm>
            <a:off x="2530690" y="5779184"/>
            <a:ext cx="6960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0000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Equipe 8</a:t>
            </a:r>
          </a:p>
          <a:p>
            <a:pPr algn="ctr"/>
            <a:r>
              <a:rPr lang="fr-FR" b="1" dirty="0">
                <a:solidFill>
                  <a:srgbClr val="F9CD23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TIEOUROU </a:t>
            </a:r>
            <a:r>
              <a:rPr lang="fr-FR" b="1" dirty="0" err="1">
                <a:solidFill>
                  <a:srgbClr val="F9CD23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Gnatin</a:t>
            </a:r>
            <a:r>
              <a:rPr lang="fr-FR" b="1" dirty="0">
                <a:solidFill>
                  <a:srgbClr val="F9CD23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 </a:t>
            </a:r>
            <a:r>
              <a:rPr lang="fr-FR" b="1" dirty="0" err="1">
                <a:solidFill>
                  <a:srgbClr val="F9CD23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Eymanuel</a:t>
            </a:r>
            <a:r>
              <a:rPr lang="fr-FR" b="1" dirty="0">
                <a:solidFill>
                  <a:srgbClr val="F9CD23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, GERARD Lucas, ELIDRISSI Hamza</a:t>
            </a:r>
          </a:p>
        </p:txBody>
      </p:sp>
      <p:pic>
        <p:nvPicPr>
          <p:cNvPr id="1036" name="Picture 12" descr="Ynov Campus Paris - École des métiers du digital">
            <a:extLst>
              <a:ext uri="{FF2B5EF4-FFF2-40B4-BE49-F238E27FC236}">
                <a16:creationId xmlns:a16="http://schemas.microsoft.com/office/drawing/2014/main" id="{948E9DB7-BD1E-4D73-DC24-74CE07E26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02" y="6425515"/>
            <a:ext cx="57841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6151CEA-C13C-16EF-1C8B-88F345A45A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80" y="6425515"/>
            <a:ext cx="609882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86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A1671-1F83-57CD-BDEE-6BB308360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BD8BAD94-0929-ECA9-372E-EFA85FA2F35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64872" y="0"/>
            <a:ext cx="12279097" cy="7315200"/>
            <a:chOff x="-64872" y="0"/>
            <a:chExt cx="12279097" cy="7315200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BE811AB2-4CB3-499B-C8BE-F81F5892D9E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22225" y="0"/>
              <a:ext cx="12236450" cy="2457450"/>
              <a:chOff x="0" y="0"/>
              <a:chExt cx="11842750" cy="2381250"/>
            </a:xfrm>
          </p:grpSpPr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C3280B17-6B81-C138-6DAF-5A49A34413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8" name="Image 7">
                <a:extLst>
                  <a:ext uri="{FF2B5EF4-FFF2-40B4-BE49-F238E27FC236}">
                    <a16:creationId xmlns:a16="http://schemas.microsoft.com/office/drawing/2014/main" id="{BC0A96E8-2732-D8CA-D41A-7F8BB066C85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B28F7763-4AD7-66D8-42C9-C2BA9B7BBFF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2432050"/>
              <a:ext cx="12236450" cy="2457450"/>
              <a:chOff x="0" y="0"/>
              <a:chExt cx="11842750" cy="2381250"/>
            </a:xfrm>
          </p:grpSpPr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8223DF3D-2592-4FDD-D6BC-79E7A13AFD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9023989A-9679-9331-11B5-0185E6609F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31B498EC-8C53-2DB7-7B15-09B1DC2B5FE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4857750"/>
              <a:ext cx="12236450" cy="2457450"/>
              <a:chOff x="0" y="0"/>
              <a:chExt cx="11842750" cy="2381250"/>
            </a:xfrm>
          </p:grpSpPr>
          <p:pic>
            <p:nvPicPr>
              <p:cNvPr id="14" name="Image 13">
                <a:extLst>
                  <a:ext uri="{FF2B5EF4-FFF2-40B4-BE49-F238E27FC236}">
                    <a16:creationId xmlns:a16="http://schemas.microsoft.com/office/drawing/2014/main" id="{F79C43E1-EE3D-F8C5-C22F-173DD05791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5" name="Image 14">
                <a:extLst>
                  <a:ext uri="{FF2B5EF4-FFF2-40B4-BE49-F238E27FC236}">
                    <a16:creationId xmlns:a16="http://schemas.microsoft.com/office/drawing/2014/main" id="{DCA6A602-6B5F-127C-D4C9-91EFF26EC09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61A455DA-65EC-C99E-FE43-492A64D60D10}"/>
              </a:ext>
            </a:extLst>
          </p:cNvPr>
          <p:cNvSpPr txBox="1"/>
          <p:nvPr/>
        </p:nvSpPr>
        <p:spPr>
          <a:xfrm>
            <a:off x="2530691" y="1206500"/>
            <a:ext cx="696003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Sommaire</a:t>
            </a:r>
          </a:p>
          <a:p>
            <a:pPr marL="342900" indent="-342900">
              <a:buFont typeface="+mj-lt"/>
              <a:buAutoNum type="romanUcPeriod"/>
            </a:pPr>
            <a:endParaRPr lang="fr-FR" sz="2400" b="1" dirty="0">
              <a:solidFill>
                <a:srgbClr val="F9CD23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514350" indent="-514350">
              <a:buFont typeface="+mj-lt"/>
              <a:buAutoNum type="romanUcPeriod"/>
            </a:pPr>
            <a:r>
              <a:rPr lang="fr-FR" sz="28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Introduction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8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Répartition du Travail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8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Data et la méthode de </a:t>
            </a:r>
            <a:r>
              <a:rPr lang="fr-FR" sz="2800" b="1" dirty="0" err="1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Scoring</a:t>
            </a:r>
            <a:endParaRPr lang="fr-FR" sz="2800" b="1" dirty="0">
              <a:solidFill>
                <a:srgbClr val="F9CD23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514350" indent="-514350">
              <a:buFont typeface="+mj-lt"/>
              <a:buAutoNum type="romanUcPeriod"/>
            </a:pPr>
            <a:r>
              <a:rPr lang="fr-FR" sz="28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L’architecture Technique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8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Démo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8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Retour d’expérience et limites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8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Conclusion et Questions</a:t>
            </a:r>
            <a:endParaRPr lang="fr-FR" sz="2400" b="1" dirty="0">
              <a:solidFill>
                <a:srgbClr val="F9CD23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036" name="Picture 12" descr="Ynov Campus Paris - École des métiers du digital">
            <a:extLst>
              <a:ext uri="{FF2B5EF4-FFF2-40B4-BE49-F238E27FC236}">
                <a16:creationId xmlns:a16="http://schemas.microsoft.com/office/drawing/2014/main" id="{CE6EF63E-5D78-9EE6-AA50-EB7F1338B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02" y="6425515"/>
            <a:ext cx="57841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24B60C9C-05FC-6A32-0673-D16E13C0F0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80" y="6425515"/>
            <a:ext cx="609882" cy="324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092A341-5A80-C66F-F4F1-9C3E258838D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86661" y="6356682"/>
            <a:ext cx="584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9619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BCD3-3A9A-2D51-20EE-0CCBFA330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C82B62F9-0790-94B4-B8E6-58E39C7D6A7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64872" y="0"/>
            <a:ext cx="12279097" cy="7315200"/>
            <a:chOff x="-64872" y="0"/>
            <a:chExt cx="12279097" cy="7315200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C8DEDC3D-583C-82C5-8C40-B72141017E8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22225" y="0"/>
              <a:ext cx="12236450" cy="2457450"/>
              <a:chOff x="0" y="0"/>
              <a:chExt cx="11842750" cy="2381250"/>
            </a:xfrm>
          </p:grpSpPr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0E89D023-2594-14AF-4A82-6934D960CC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8" name="Image 7">
                <a:extLst>
                  <a:ext uri="{FF2B5EF4-FFF2-40B4-BE49-F238E27FC236}">
                    <a16:creationId xmlns:a16="http://schemas.microsoft.com/office/drawing/2014/main" id="{B5BABB7E-3272-E0F7-A4E1-921AD2F7E66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82FDF972-EF0E-4D71-DD9A-7E316089774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2432050"/>
              <a:ext cx="12236450" cy="2457450"/>
              <a:chOff x="0" y="0"/>
              <a:chExt cx="11842750" cy="2381250"/>
            </a:xfrm>
          </p:grpSpPr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F4DA819F-B1B4-7DBE-6248-59292F567DB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2B7A5B7B-8992-0152-9058-19D3C59C94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2ABBE0D4-F6D2-803F-E43E-8529A8E2CA7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4857750"/>
              <a:ext cx="12236450" cy="2457450"/>
              <a:chOff x="0" y="0"/>
              <a:chExt cx="11842750" cy="2381250"/>
            </a:xfrm>
          </p:grpSpPr>
          <p:pic>
            <p:nvPicPr>
              <p:cNvPr id="14" name="Image 13">
                <a:extLst>
                  <a:ext uri="{FF2B5EF4-FFF2-40B4-BE49-F238E27FC236}">
                    <a16:creationId xmlns:a16="http://schemas.microsoft.com/office/drawing/2014/main" id="{BB96AC4C-5F27-DC23-AC76-BD6649746C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5" name="Image 14">
                <a:extLst>
                  <a:ext uri="{FF2B5EF4-FFF2-40B4-BE49-F238E27FC236}">
                    <a16:creationId xmlns:a16="http://schemas.microsoft.com/office/drawing/2014/main" id="{84DE5ECD-B249-8363-D9D7-CC2C3AE8D03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BA0DE6E8-26C2-6EA2-14D2-955C21A9E66D}"/>
              </a:ext>
            </a:extLst>
          </p:cNvPr>
          <p:cNvSpPr txBox="1"/>
          <p:nvPr/>
        </p:nvSpPr>
        <p:spPr>
          <a:xfrm>
            <a:off x="2530691" y="1206500"/>
            <a:ext cx="69600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Introduction</a:t>
            </a:r>
            <a:endParaRPr lang="fr-FR" sz="4800" b="1" dirty="0">
              <a:solidFill>
                <a:srgbClr val="0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036" name="Picture 12" descr="Ynov Campus Paris - École des métiers du digital">
            <a:extLst>
              <a:ext uri="{FF2B5EF4-FFF2-40B4-BE49-F238E27FC236}">
                <a16:creationId xmlns:a16="http://schemas.microsoft.com/office/drawing/2014/main" id="{BC67F0AC-AC59-23FD-7CE2-BDA3229D6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02" y="6425515"/>
            <a:ext cx="57841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A36842D6-B358-4EB7-EED6-C73A3A74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80" y="6425515"/>
            <a:ext cx="609882" cy="324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69E12CC-A3AE-F3BF-6AC0-0BE97F4089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86661" y="6356682"/>
            <a:ext cx="584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</a:t>
            </a:r>
            <a:endParaRPr lang="fr-FR" sz="2400" dirty="0"/>
          </a:p>
        </p:txBody>
      </p:sp>
      <p:pic>
        <p:nvPicPr>
          <p:cNvPr id="2050" name="Picture 2" descr="[CHALLENGE 48h]">
            <a:extLst>
              <a:ext uri="{FF2B5EF4-FFF2-40B4-BE49-F238E27FC236}">
                <a16:creationId xmlns:a16="http://schemas.microsoft.com/office/drawing/2014/main" id="{B0545B74-9C3F-1528-274F-4B22F4E75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626" y="2610535"/>
            <a:ext cx="2974481" cy="1673146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00210D8-3599-828B-A029-DC92E7F2E3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664" y="1847850"/>
            <a:ext cx="2767013" cy="316230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21" name="Graphique 20" descr="Statistiques avec un remplissage uni">
            <a:extLst>
              <a:ext uri="{FF2B5EF4-FFF2-40B4-BE49-F238E27FC236}">
                <a16:creationId xmlns:a16="http://schemas.microsoft.com/office/drawing/2014/main" id="{C045E40E-C27B-750D-DE28-3E5C24D05C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7237" y="3243997"/>
            <a:ext cx="914400" cy="914400"/>
          </a:xfrm>
          <a:prstGeom prst="rect">
            <a:avLst/>
          </a:prstGeom>
        </p:spPr>
      </p:pic>
      <p:pic>
        <p:nvPicPr>
          <p:cNvPr id="23" name="Graphique 22" descr="Recherche avec un remplissage uni">
            <a:extLst>
              <a:ext uri="{FF2B5EF4-FFF2-40B4-BE49-F238E27FC236}">
                <a16:creationId xmlns:a16="http://schemas.microsoft.com/office/drawing/2014/main" id="{4AD678E5-DAF6-2B05-3E1E-54BFDB3D38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02805" y="5042585"/>
            <a:ext cx="914400" cy="914400"/>
          </a:xfrm>
          <a:prstGeom prst="rect">
            <a:avLst/>
          </a:prstGeom>
        </p:spPr>
      </p:pic>
      <p:pic>
        <p:nvPicPr>
          <p:cNvPr id="25" name="Graphique 24" descr="Nuage de points avec un remplissage uni">
            <a:extLst>
              <a:ext uri="{FF2B5EF4-FFF2-40B4-BE49-F238E27FC236}">
                <a16:creationId xmlns:a16="http://schemas.microsoft.com/office/drawing/2014/main" id="{79DE579F-2B4D-1D8F-A5AB-B4B4FA2DBE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27801" y="4050874"/>
            <a:ext cx="914400" cy="914400"/>
          </a:xfrm>
          <a:prstGeom prst="rect">
            <a:avLst/>
          </a:prstGeom>
        </p:spPr>
      </p:pic>
      <p:pic>
        <p:nvPicPr>
          <p:cNvPr id="28" name="Graphique 27" descr="Sphères de Harvey 70% avec un remplissage uni">
            <a:extLst>
              <a:ext uri="{FF2B5EF4-FFF2-40B4-BE49-F238E27FC236}">
                <a16:creationId xmlns:a16="http://schemas.microsoft.com/office/drawing/2014/main" id="{4A6B7E48-C783-141F-B598-3385777D50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99477" y="2968625"/>
            <a:ext cx="717550" cy="71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389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47D61-F7D6-C6FB-E911-C38F5FF05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763EDC7C-BDE6-2F32-F26B-873115DEC7F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64872" y="0"/>
            <a:ext cx="12279097" cy="7315200"/>
            <a:chOff x="-64872" y="0"/>
            <a:chExt cx="12279097" cy="7315200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06BDEA64-F3F7-F32F-BEF0-A9206974001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22225" y="0"/>
              <a:ext cx="12236450" cy="2457450"/>
              <a:chOff x="0" y="0"/>
              <a:chExt cx="11842750" cy="2381250"/>
            </a:xfrm>
          </p:grpSpPr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3B754311-633C-AC70-8E58-C98D735797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8" name="Image 7">
                <a:extLst>
                  <a:ext uri="{FF2B5EF4-FFF2-40B4-BE49-F238E27FC236}">
                    <a16:creationId xmlns:a16="http://schemas.microsoft.com/office/drawing/2014/main" id="{579EF0A3-C5B9-5C64-75B7-4066EA070B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000A0AEA-884D-67F6-69E7-3ACD09844B6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2432050"/>
              <a:ext cx="12236450" cy="2457450"/>
              <a:chOff x="0" y="0"/>
              <a:chExt cx="11842750" cy="2381250"/>
            </a:xfrm>
          </p:grpSpPr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847154DC-5FE5-0515-D3D8-536A5CD909F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709D8DCB-98F3-B1B8-6202-8A374D588A6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624C2B35-2906-4557-CE75-D8782123B0E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4857750"/>
              <a:ext cx="12236450" cy="2457450"/>
              <a:chOff x="0" y="0"/>
              <a:chExt cx="11842750" cy="2381250"/>
            </a:xfrm>
          </p:grpSpPr>
          <p:pic>
            <p:nvPicPr>
              <p:cNvPr id="14" name="Image 13">
                <a:extLst>
                  <a:ext uri="{FF2B5EF4-FFF2-40B4-BE49-F238E27FC236}">
                    <a16:creationId xmlns:a16="http://schemas.microsoft.com/office/drawing/2014/main" id="{2D1BDF06-A397-C7DA-83A3-9DDA675B253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5" name="Image 14">
                <a:extLst>
                  <a:ext uri="{FF2B5EF4-FFF2-40B4-BE49-F238E27FC236}">
                    <a16:creationId xmlns:a16="http://schemas.microsoft.com/office/drawing/2014/main" id="{0BF27307-1522-8C67-5D43-335A31459D0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10B51097-48F5-5B32-0FD9-6EEB6418F829}"/>
              </a:ext>
            </a:extLst>
          </p:cNvPr>
          <p:cNvSpPr txBox="1"/>
          <p:nvPr/>
        </p:nvSpPr>
        <p:spPr>
          <a:xfrm>
            <a:off x="2530691" y="1206500"/>
            <a:ext cx="69600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Répartition du Travail</a:t>
            </a:r>
          </a:p>
        </p:txBody>
      </p:sp>
      <p:pic>
        <p:nvPicPr>
          <p:cNvPr id="1036" name="Picture 12" descr="Ynov Campus Paris - École des métiers du digital">
            <a:extLst>
              <a:ext uri="{FF2B5EF4-FFF2-40B4-BE49-F238E27FC236}">
                <a16:creationId xmlns:a16="http://schemas.microsoft.com/office/drawing/2014/main" id="{5BC680CD-9B4D-CA99-D273-9B65601E5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02" y="6425515"/>
            <a:ext cx="57841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CF1881BD-C2BE-97F1-9FFD-77628A59E3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80" y="6425515"/>
            <a:ext cx="609882" cy="324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8233B875-208C-6FE6-AB7D-F849F971A8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86661" y="6356682"/>
            <a:ext cx="584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endParaRPr lang="fr-FR" sz="2400" dirty="0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91E4FD93-B6DF-BE23-8555-93BA803CE812}"/>
              </a:ext>
            </a:extLst>
          </p:cNvPr>
          <p:cNvGrpSpPr/>
          <p:nvPr/>
        </p:nvGrpSpPr>
        <p:grpSpPr>
          <a:xfrm>
            <a:off x="343372" y="2318759"/>
            <a:ext cx="3303568" cy="2202379"/>
            <a:chOff x="312307" y="2634950"/>
            <a:chExt cx="4075543" cy="2717029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36EBFC18-A35F-745B-5439-C08A07390F90}"/>
                </a:ext>
              </a:extLst>
            </p:cNvPr>
            <p:cNvSpPr>
              <a:spLocks/>
            </p:cNvSpPr>
            <p:nvPr/>
          </p:nvSpPr>
          <p:spPr>
            <a:xfrm>
              <a:off x="312307" y="2634950"/>
              <a:ext cx="4075543" cy="2717029"/>
            </a:xfrm>
            <a:prstGeom prst="ellipse">
              <a:avLst/>
            </a:prstGeom>
            <a:solidFill>
              <a:srgbClr val="F9CD2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4" name="Graphique 3" descr="Recherche avec un remplissage uni">
              <a:extLst>
                <a:ext uri="{FF2B5EF4-FFF2-40B4-BE49-F238E27FC236}">
                  <a16:creationId xmlns:a16="http://schemas.microsoft.com/office/drawing/2014/main" id="{4D6755B4-FEC5-DF39-0C66-12D16E3831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50078" y="3901132"/>
              <a:ext cx="914400" cy="914400"/>
            </a:xfrm>
            <a:prstGeom prst="rect">
              <a:avLst/>
            </a:prstGeom>
          </p:spPr>
        </p:pic>
        <p:pic>
          <p:nvPicPr>
            <p:cNvPr id="6" name="Graphique 5" descr="Tableau avec un remplissage uni">
              <a:extLst>
                <a:ext uri="{FF2B5EF4-FFF2-40B4-BE49-F238E27FC236}">
                  <a16:creationId xmlns:a16="http://schemas.microsoft.com/office/drawing/2014/main" id="{E510FC51-4253-1E30-1D3C-53C0729D91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7403" y="3480871"/>
              <a:ext cx="914400" cy="914400"/>
            </a:xfrm>
            <a:prstGeom prst="rect">
              <a:avLst/>
            </a:prstGeom>
          </p:spPr>
        </p:pic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767FCC7E-0F5B-556A-90D6-F2299DA4959A}"/>
                </a:ext>
              </a:extLst>
            </p:cNvPr>
            <p:cNvSpPr txBox="1"/>
            <p:nvPr/>
          </p:nvSpPr>
          <p:spPr>
            <a:xfrm>
              <a:off x="1712913" y="2952403"/>
              <a:ext cx="108108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Data</a:t>
              </a:r>
              <a:endPara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3" name="Ellipse 32">
            <a:extLst>
              <a:ext uri="{FF2B5EF4-FFF2-40B4-BE49-F238E27FC236}">
                <a16:creationId xmlns:a16="http://schemas.microsoft.com/office/drawing/2014/main" id="{25910396-FD6E-0934-16AB-9D6B88D5AD9B}"/>
              </a:ext>
            </a:extLst>
          </p:cNvPr>
          <p:cNvSpPr>
            <a:spLocks/>
          </p:cNvSpPr>
          <p:nvPr/>
        </p:nvSpPr>
        <p:spPr>
          <a:xfrm>
            <a:off x="4274108" y="3368357"/>
            <a:ext cx="3303568" cy="2202379"/>
          </a:xfrm>
          <a:prstGeom prst="ellipse">
            <a:avLst/>
          </a:prstGeom>
          <a:solidFill>
            <a:schemeClr val="tx1"/>
          </a:solidFill>
          <a:ln>
            <a:solidFill>
              <a:srgbClr val="F9C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57CB97E6-772C-9182-3AF5-73BB248C9710}"/>
              </a:ext>
            </a:extLst>
          </p:cNvPr>
          <p:cNvGrpSpPr/>
          <p:nvPr/>
        </p:nvGrpSpPr>
        <p:grpSpPr>
          <a:xfrm>
            <a:off x="8459766" y="2432050"/>
            <a:ext cx="3303568" cy="2202379"/>
            <a:chOff x="312307" y="2634950"/>
            <a:chExt cx="4075543" cy="2717029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014FDF3F-5FD6-2692-F217-AC8293C190E3}"/>
                </a:ext>
              </a:extLst>
            </p:cNvPr>
            <p:cNvSpPr>
              <a:spLocks/>
            </p:cNvSpPr>
            <p:nvPr/>
          </p:nvSpPr>
          <p:spPr>
            <a:xfrm>
              <a:off x="312307" y="2634950"/>
              <a:ext cx="4075543" cy="2717029"/>
            </a:xfrm>
            <a:prstGeom prst="ellipse">
              <a:avLst/>
            </a:prstGeom>
            <a:solidFill>
              <a:srgbClr val="F9CD2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D0AE4354-590B-BC09-0858-37F82C449DB2}"/>
                </a:ext>
              </a:extLst>
            </p:cNvPr>
            <p:cNvSpPr txBox="1"/>
            <p:nvPr/>
          </p:nvSpPr>
          <p:spPr>
            <a:xfrm>
              <a:off x="714345" y="2989529"/>
              <a:ext cx="3271468" cy="5695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Infrastructure</a:t>
              </a:r>
              <a:endPara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2" name="ZoneTexte 41">
            <a:extLst>
              <a:ext uri="{FF2B5EF4-FFF2-40B4-BE49-F238E27FC236}">
                <a16:creationId xmlns:a16="http://schemas.microsoft.com/office/drawing/2014/main" id="{A0BF720E-64E9-D740-5BD8-282B61D8B6DD}"/>
              </a:ext>
            </a:extLst>
          </p:cNvPr>
          <p:cNvSpPr txBox="1"/>
          <p:nvPr/>
        </p:nvSpPr>
        <p:spPr>
          <a:xfrm>
            <a:off x="4523126" y="3716010"/>
            <a:ext cx="2805531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F9CD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Développeur</a:t>
            </a:r>
            <a:endParaRPr lang="fr-FR" sz="2400" dirty="0">
              <a:solidFill>
                <a:srgbClr val="F9CD2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4" name="Graphique 43" descr="Programmeur avec un remplissage uni">
            <a:extLst>
              <a:ext uri="{FF2B5EF4-FFF2-40B4-BE49-F238E27FC236}">
                <a16:creationId xmlns:a16="http://schemas.microsoft.com/office/drawing/2014/main" id="{40F562C7-8A8B-51ED-5EE4-49D4B091F2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86346" y="4199594"/>
            <a:ext cx="712122" cy="712122"/>
          </a:xfrm>
          <a:prstGeom prst="rect">
            <a:avLst/>
          </a:prstGeom>
        </p:spPr>
      </p:pic>
      <p:pic>
        <p:nvPicPr>
          <p:cNvPr id="46" name="Graphique 45" descr="Ordinateur portable avec un remplissage uni">
            <a:extLst>
              <a:ext uri="{FF2B5EF4-FFF2-40B4-BE49-F238E27FC236}">
                <a16:creationId xmlns:a16="http://schemas.microsoft.com/office/drawing/2014/main" id="{8404C728-38A6-4E61-B4FE-741370F08F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94919" y="4391494"/>
            <a:ext cx="914400" cy="914400"/>
          </a:xfrm>
          <a:prstGeom prst="rect">
            <a:avLst/>
          </a:prstGeom>
        </p:spPr>
      </p:pic>
      <p:pic>
        <p:nvPicPr>
          <p:cNvPr id="48" name="Graphique 47" descr="Serveur avec un remplissage uni">
            <a:extLst>
              <a:ext uri="{FF2B5EF4-FFF2-40B4-BE49-F238E27FC236}">
                <a16:creationId xmlns:a16="http://schemas.microsoft.com/office/drawing/2014/main" id="{9523CAC1-E743-2D56-8F0C-EC20E0C8CD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65255" y="3494362"/>
            <a:ext cx="682152" cy="682152"/>
          </a:xfrm>
          <a:prstGeom prst="rect">
            <a:avLst/>
          </a:prstGeom>
        </p:spPr>
      </p:pic>
      <p:pic>
        <p:nvPicPr>
          <p:cNvPr id="50" name="Graphique 49" descr="Base de données avec un remplissage uni">
            <a:extLst>
              <a:ext uri="{FF2B5EF4-FFF2-40B4-BE49-F238E27FC236}">
                <a16:creationId xmlns:a16="http://schemas.microsoft.com/office/drawing/2014/main" id="{B99F6F93-A453-02F6-B6C5-5F170961CF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52896" y="3288383"/>
            <a:ext cx="637799" cy="63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762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B3B1C-659A-9591-7486-2E1E0F333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F621537B-FCA2-E1C0-7C73-2EF833095A5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64872" y="0"/>
            <a:ext cx="12279097" cy="7315200"/>
            <a:chOff x="-64872" y="0"/>
            <a:chExt cx="12279097" cy="7315200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2ACFD162-6181-E195-D28A-2EEDECAB4C7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22225" y="0"/>
              <a:ext cx="12236450" cy="2457450"/>
              <a:chOff x="0" y="0"/>
              <a:chExt cx="11842750" cy="2381250"/>
            </a:xfrm>
          </p:grpSpPr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0824E41F-4CCA-F6BD-47AA-7250614E4E6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8" name="Image 7">
                <a:extLst>
                  <a:ext uri="{FF2B5EF4-FFF2-40B4-BE49-F238E27FC236}">
                    <a16:creationId xmlns:a16="http://schemas.microsoft.com/office/drawing/2014/main" id="{39684418-729B-CCF4-EAFF-52FB6A7D11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2B4C4D5D-CFA3-3772-011A-F1A5244F149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2432050"/>
              <a:ext cx="12236450" cy="2457450"/>
              <a:chOff x="0" y="0"/>
              <a:chExt cx="11842750" cy="2381250"/>
            </a:xfrm>
          </p:grpSpPr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54F627DB-41CE-9BFA-3728-F520D5251C6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FD8EDF7A-FCEE-37EF-BC3D-07D283D4D7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52B0E32E-A4EA-12F4-06DA-F38FFA1FF85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4857750"/>
              <a:ext cx="12236450" cy="2457450"/>
              <a:chOff x="0" y="0"/>
              <a:chExt cx="11842750" cy="2381250"/>
            </a:xfrm>
          </p:grpSpPr>
          <p:pic>
            <p:nvPicPr>
              <p:cNvPr id="14" name="Image 13">
                <a:extLst>
                  <a:ext uri="{FF2B5EF4-FFF2-40B4-BE49-F238E27FC236}">
                    <a16:creationId xmlns:a16="http://schemas.microsoft.com/office/drawing/2014/main" id="{64450A44-175C-DBEB-FDFF-B8A9C664929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5" name="Image 14">
                <a:extLst>
                  <a:ext uri="{FF2B5EF4-FFF2-40B4-BE49-F238E27FC236}">
                    <a16:creationId xmlns:a16="http://schemas.microsoft.com/office/drawing/2014/main" id="{C8020B5B-8A6F-0EC6-11E2-D7E4D40B1A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7B23DE32-9BAB-C922-AB6B-7A91480F4A76}"/>
              </a:ext>
            </a:extLst>
          </p:cNvPr>
          <p:cNvSpPr txBox="1"/>
          <p:nvPr/>
        </p:nvSpPr>
        <p:spPr>
          <a:xfrm>
            <a:off x="2441791" y="768350"/>
            <a:ext cx="6960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Data et la méthode de </a:t>
            </a:r>
            <a:r>
              <a:rPr lang="fr-FR" sz="3200" b="1" dirty="0" err="1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Scoring</a:t>
            </a:r>
            <a:endParaRPr lang="fr-FR" sz="3200" b="1" dirty="0">
              <a:solidFill>
                <a:srgbClr val="F9CD23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036" name="Picture 12" descr="Ynov Campus Paris - École des métiers du digital">
            <a:extLst>
              <a:ext uri="{FF2B5EF4-FFF2-40B4-BE49-F238E27FC236}">
                <a16:creationId xmlns:a16="http://schemas.microsoft.com/office/drawing/2014/main" id="{4BACA199-3A47-3942-294C-9A82A236C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02" y="6425515"/>
            <a:ext cx="57841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6A216475-DA6C-6E7A-87B9-48F8CF5BA5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80" y="6425515"/>
            <a:ext cx="609882" cy="324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86473D0E-A96C-DF58-6C6B-3B990C43F8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86661" y="6356682"/>
            <a:ext cx="584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4</a:t>
            </a:r>
            <a:endParaRPr lang="fr-FR" sz="2400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C02E88C6-1722-3735-C535-DD13F40C7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673" y="2122450"/>
            <a:ext cx="165735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Jupyter — Wikipédia">
            <a:extLst>
              <a:ext uri="{FF2B5EF4-FFF2-40B4-BE49-F238E27FC236}">
                <a16:creationId xmlns:a16="http://schemas.microsoft.com/office/drawing/2014/main" id="{CC3F0E87-77C8-720C-FA13-D907417D5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899" y="3671850"/>
            <a:ext cx="1608865" cy="186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B54D6536-5F43-7A51-5B1B-B076581232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293"/>
          <a:stretch>
            <a:fillRect/>
          </a:stretch>
        </p:blipFill>
        <p:spPr bwMode="auto">
          <a:xfrm>
            <a:off x="6312873" y="1873535"/>
            <a:ext cx="1799069" cy="2147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4CF92E0-63F6-4982-8639-4273AF932D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4217" y="3429000"/>
            <a:ext cx="21082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879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02804-AC4C-87D1-0BA2-5F1958D7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AEF3218F-115D-687A-F966-76D67290D92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64872" y="0"/>
            <a:ext cx="12279097" cy="7315200"/>
            <a:chOff x="-64872" y="0"/>
            <a:chExt cx="12279097" cy="7315200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1B930A4A-BC57-D7C1-B9DF-636EC3C5285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22225" y="0"/>
              <a:ext cx="12236450" cy="2457450"/>
              <a:chOff x="0" y="0"/>
              <a:chExt cx="11842750" cy="2381250"/>
            </a:xfrm>
          </p:grpSpPr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92F8E206-79D7-1D2E-B276-5CA49F21A4A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8" name="Image 7">
                <a:extLst>
                  <a:ext uri="{FF2B5EF4-FFF2-40B4-BE49-F238E27FC236}">
                    <a16:creationId xmlns:a16="http://schemas.microsoft.com/office/drawing/2014/main" id="{212BAFC4-F965-B56C-FA3E-EEFD178C5EA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28AB35D9-B8A1-CFB4-5521-2983B3973B9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2432050"/>
              <a:ext cx="12236450" cy="2457450"/>
              <a:chOff x="0" y="0"/>
              <a:chExt cx="11842750" cy="2381250"/>
            </a:xfrm>
          </p:grpSpPr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3ECF4926-7D58-9271-5B5A-24B84A100DB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19A9D4CC-54A4-8143-30E7-4AD9B4F3F55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0F3E31AF-ADCA-4774-0137-BC0FED72782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4857750"/>
              <a:ext cx="12236450" cy="2457450"/>
              <a:chOff x="0" y="0"/>
              <a:chExt cx="11842750" cy="2381250"/>
            </a:xfrm>
          </p:grpSpPr>
          <p:pic>
            <p:nvPicPr>
              <p:cNvPr id="14" name="Image 13">
                <a:extLst>
                  <a:ext uri="{FF2B5EF4-FFF2-40B4-BE49-F238E27FC236}">
                    <a16:creationId xmlns:a16="http://schemas.microsoft.com/office/drawing/2014/main" id="{30F38D3E-DCB6-7B73-4800-A72B911E7A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5" name="Image 14">
                <a:extLst>
                  <a:ext uri="{FF2B5EF4-FFF2-40B4-BE49-F238E27FC236}">
                    <a16:creationId xmlns:a16="http://schemas.microsoft.com/office/drawing/2014/main" id="{34A427D6-2174-131A-554F-DED39720FF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698F13F3-5DA7-6B74-0E4A-C4AEF19D4A5E}"/>
              </a:ext>
            </a:extLst>
          </p:cNvPr>
          <p:cNvSpPr txBox="1"/>
          <p:nvPr/>
        </p:nvSpPr>
        <p:spPr>
          <a:xfrm>
            <a:off x="2441791" y="768350"/>
            <a:ext cx="69600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L’architecture Technique</a:t>
            </a:r>
          </a:p>
          <a:p>
            <a:pPr algn="ctr"/>
            <a:r>
              <a:rPr lang="fr-FR" sz="32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Partie Développement</a:t>
            </a:r>
          </a:p>
        </p:txBody>
      </p:sp>
      <p:pic>
        <p:nvPicPr>
          <p:cNvPr id="1036" name="Picture 12" descr="Ynov Campus Paris - École des métiers du digital">
            <a:extLst>
              <a:ext uri="{FF2B5EF4-FFF2-40B4-BE49-F238E27FC236}">
                <a16:creationId xmlns:a16="http://schemas.microsoft.com/office/drawing/2014/main" id="{1EA822EB-A939-8CD0-EE3C-E4297A08C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02" y="6425515"/>
            <a:ext cx="57841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E984FF93-5810-530F-0E9F-27E6EBEDEA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80" y="6425515"/>
            <a:ext cx="609882" cy="324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E59F608-209F-0190-4809-A5930AC9A8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86661" y="6356682"/>
            <a:ext cx="584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  <a:endParaRPr lang="fr-FR" sz="2400" dirty="0"/>
          </a:p>
        </p:txBody>
      </p:sp>
      <p:pic>
        <p:nvPicPr>
          <p:cNvPr id="2052" name="Picture 4" descr="Nextjs icon - Free Download PNG &amp; SVG | Streamline">
            <a:extLst>
              <a:ext uri="{FF2B5EF4-FFF2-40B4-BE49-F238E27FC236}">
                <a16:creationId xmlns:a16="http://schemas.microsoft.com/office/drawing/2014/main" id="{365AF6F2-DF2F-4D80-29EE-25A582BC9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765" y="3755379"/>
            <a:ext cx="1768475" cy="176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ypeScript - Wikipedia">
            <a:extLst>
              <a:ext uri="{FF2B5EF4-FFF2-40B4-BE49-F238E27FC236}">
                <a16:creationId xmlns:a16="http://schemas.microsoft.com/office/drawing/2014/main" id="{C61C66CD-7189-9194-C59A-389B3E972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31" y="2740734"/>
            <a:ext cx="1165225" cy="116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3E89384-D586-C05A-A22A-954C69F97D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590" y="3321735"/>
            <a:ext cx="1331912" cy="1331912"/>
          </a:xfrm>
          <a:prstGeom prst="rect">
            <a:avLst/>
          </a:prstGeom>
        </p:spPr>
      </p:pic>
      <p:pic>
        <p:nvPicPr>
          <p:cNvPr id="2056" name="Picture 8" descr="Monica Scoletti">
            <a:extLst>
              <a:ext uri="{FF2B5EF4-FFF2-40B4-BE49-F238E27FC236}">
                <a16:creationId xmlns:a16="http://schemas.microsoft.com/office/drawing/2014/main" id="{E06BA2A5-50A3-6BA3-750F-C647C2219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189" y="2799774"/>
            <a:ext cx="1473200" cy="147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A356A31C-B032-E630-782E-4D2F99909A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969" y="3335503"/>
            <a:ext cx="2143125" cy="2143125"/>
          </a:xfrm>
          <a:prstGeom prst="rect">
            <a:avLst/>
          </a:prstGeom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17CF06D9-A53A-ED76-4E8C-2DA8BD69D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358" y="2991792"/>
            <a:ext cx="1539424" cy="94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730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D1A7E-547E-AA44-5665-B35A4AFEC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B78ABD93-9F05-6358-E865-503D3AE62EE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64872" y="0"/>
            <a:ext cx="12279097" cy="7315200"/>
            <a:chOff x="-64872" y="0"/>
            <a:chExt cx="12279097" cy="7315200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D4DFD878-2505-7E62-19E2-CE66FD01526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22225" y="0"/>
              <a:ext cx="12236450" cy="2457450"/>
              <a:chOff x="0" y="0"/>
              <a:chExt cx="11842750" cy="2381250"/>
            </a:xfrm>
          </p:grpSpPr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4412BB9E-B54A-26A5-1DD6-26A695301C3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8" name="Image 7">
                <a:extLst>
                  <a:ext uri="{FF2B5EF4-FFF2-40B4-BE49-F238E27FC236}">
                    <a16:creationId xmlns:a16="http://schemas.microsoft.com/office/drawing/2014/main" id="{08214965-91D1-F816-7167-49A35D9AAF1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3B1A8610-1D8C-F0B0-5031-8F89AE39E07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2432050"/>
              <a:ext cx="12236450" cy="2457450"/>
              <a:chOff x="0" y="0"/>
              <a:chExt cx="11842750" cy="2381250"/>
            </a:xfrm>
          </p:grpSpPr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234BCDAF-97F6-1413-D750-18C2B8EE4B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E1DDAE70-87B8-9B9D-380C-C2835649D67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36BF52E5-277F-302D-8AC1-C226E910439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4857750"/>
              <a:ext cx="12236450" cy="2457450"/>
              <a:chOff x="0" y="0"/>
              <a:chExt cx="11842750" cy="2381250"/>
            </a:xfrm>
          </p:grpSpPr>
          <p:pic>
            <p:nvPicPr>
              <p:cNvPr id="14" name="Image 13">
                <a:extLst>
                  <a:ext uri="{FF2B5EF4-FFF2-40B4-BE49-F238E27FC236}">
                    <a16:creationId xmlns:a16="http://schemas.microsoft.com/office/drawing/2014/main" id="{98D8F92F-E6D5-F205-6718-51BEC29B37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5" name="Image 14">
                <a:extLst>
                  <a:ext uri="{FF2B5EF4-FFF2-40B4-BE49-F238E27FC236}">
                    <a16:creationId xmlns:a16="http://schemas.microsoft.com/office/drawing/2014/main" id="{50A3949C-9628-BA73-82E9-364FBCACC5D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9DC70C88-7A82-5DAC-AEF0-BAB575E606BF}"/>
              </a:ext>
            </a:extLst>
          </p:cNvPr>
          <p:cNvSpPr txBox="1"/>
          <p:nvPr/>
        </p:nvSpPr>
        <p:spPr>
          <a:xfrm>
            <a:off x="2441791" y="768350"/>
            <a:ext cx="69600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L’architecture Technique</a:t>
            </a:r>
          </a:p>
          <a:p>
            <a:pPr algn="ctr"/>
            <a:r>
              <a:rPr lang="fr-FR" sz="32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Partie Infrastructure</a:t>
            </a:r>
          </a:p>
        </p:txBody>
      </p:sp>
      <p:pic>
        <p:nvPicPr>
          <p:cNvPr id="1036" name="Picture 12" descr="Ynov Campus Paris - École des métiers du digital">
            <a:extLst>
              <a:ext uri="{FF2B5EF4-FFF2-40B4-BE49-F238E27FC236}">
                <a16:creationId xmlns:a16="http://schemas.microsoft.com/office/drawing/2014/main" id="{F34C17D0-656B-C7B2-1E60-89F0B1697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02" y="6425515"/>
            <a:ext cx="57841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726C268E-37A2-476A-2946-6313E9F8AA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80" y="6425515"/>
            <a:ext cx="609882" cy="324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C18E479-AF39-81DE-7306-511D3E1B29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86661" y="6356682"/>
            <a:ext cx="584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6</a:t>
            </a:r>
            <a:endParaRPr lang="fr-FR" sz="24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6E39C1B-4963-949A-2654-4944F3E71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675" y="2190507"/>
            <a:ext cx="2158129" cy="205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27761F46-1713-BD2B-E02E-9F17901914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239"/>
          <a:stretch>
            <a:fillRect/>
          </a:stretch>
        </p:blipFill>
        <p:spPr bwMode="auto">
          <a:xfrm>
            <a:off x="4891528" y="3923154"/>
            <a:ext cx="1901394" cy="140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030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8D04E-3B79-1E68-4FD1-DBEF1E84E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C96C03A4-A0B0-8BB8-F8F2-430FBD7A635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64872" y="0"/>
            <a:ext cx="12279097" cy="7315200"/>
            <a:chOff x="-64872" y="0"/>
            <a:chExt cx="12279097" cy="7315200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E0DC6C47-2CC7-7D4A-8C3D-8659E45C63C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22225" y="0"/>
              <a:ext cx="12236450" cy="2457450"/>
              <a:chOff x="0" y="0"/>
              <a:chExt cx="11842750" cy="2381250"/>
            </a:xfrm>
          </p:grpSpPr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45344B21-26D6-87B6-D4BE-9B8A187A7B7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8" name="Image 7">
                <a:extLst>
                  <a:ext uri="{FF2B5EF4-FFF2-40B4-BE49-F238E27FC236}">
                    <a16:creationId xmlns:a16="http://schemas.microsoft.com/office/drawing/2014/main" id="{6A50724C-D25F-8301-4C13-0776A407853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39AAD28D-891F-010A-2D1E-195F7C82DFE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2432050"/>
              <a:ext cx="12236450" cy="2457450"/>
              <a:chOff x="0" y="0"/>
              <a:chExt cx="11842750" cy="2381250"/>
            </a:xfrm>
          </p:grpSpPr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5BEC79FA-EF99-A6D4-AF98-AC56CC90DE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39163477-D577-9983-411C-255520821BA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AEB6EEE9-006E-F549-C506-49F60D8CDD5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4857750"/>
              <a:ext cx="12236450" cy="2457450"/>
              <a:chOff x="0" y="0"/>
              <a:chExt cx="11842750" cy="2381250"/>
            </a:xfrm>
          </p:grpSpPr>
          <p:pic>
            <p:nvPicPr>
              <p:cNvPr id="14" name="Image 13">
                <a:extLst>
                  <a:ext uri="{FF2B5EF4-FFF2-40B4-BE49-F238E27FC236}">
                    <a16:creationId xmlns:a16="http://schemas.microsoft.com/office/drawing/2014/main" id="{EB120C4F-AB8D-B32F-8F44-7035CE28211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5" name="Image 14">
                <a:extLst>
                  <a:ext uri="{FF2B5EF4-FFF2-40B4-BE49-F238E27FC236}">
                    <a16:creationId xmlns:a16="http://schemas.microsoft.com/office/drawing/2014/main" id="{B4958093-E713-13E8-EED3-1A801EE717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8A1290DE-46CB-021C-8E7F-B443C5DC21BF}"/>
              </a:ext>
            </a:extLst>
          </p:cNvPr>
          <p:cNvSpPr txBox="1"/>
          <p:nvPr/>
        </p:nvSpPr>
        <p:spPr>
          <a:xfrm>
            <a:off x="2435441" y="480536"/>
            <a:ext cx="69600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Démo</a:t>
            </a:r>
          </a:p>
        </p:txBody>
      </p:sp>
      <p:pic>
        <p:nvPicPr>
          <p:cNvPr id="1036" name="Picture 12" descr="Ynov Campus Paris - École des métiers du digital">
            <a:extLst>
              <a:ext uri="{FF2B5EF4-FFF2-40B4-BE49-F238E27FC236}">
                <a16:creationId xmlns:a16="http://schemas.microsoft.com/office/drawing/2014/main" id="{54162CC0-982A-423B-8A3C-B1AEEAE6C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02" y="6425515"/>
            <a:ext cx="57841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3AAD00DC-130C-EF6A-B1FB-97076BFC6D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80" y="6425515"/>
            <a:ext cx="609882" cy="324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E62460C-D138-5BA7-A446-A369FF13C0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86661" y="6356682"/>
            <a:ext cx="584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7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665EA51-7696-AAB4-3872-624FCCFDE0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059" y="3300679"/>
            <a:ext cx="5158515" cy="29000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reflection blurRad="6350" stA="50000" endA="300" endPos="38500" dist="50800" dir="5400000" sy="-100000" algn="bl" rotWithShape="0"/>
          </a:effec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9BB1434-1B75-BC7F-B30E-3C94FAF88F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48" y="1474408"/>
            <a:ext cx="6100519" cy="34332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86461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34CED-E314-B502-3738-0532C5518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57C3696A-FDAB-90FB-EFEE-A502197B0E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64872" y="0"/>
            <a:ext cx="12279097" cy="7315200"/>
            <a:chOff x="-64872" y="0"/>
            <a:chExt cx="12279097" cy="7315200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408D45C9-2CC0-6F50-4FBD-F58F724F9E3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22225" y="0"/>
              <a:ext cx="12236450" cy="2457450"/>
              <a:chOff x="0" y="0"/>
              <a:chExt cx="11842750" cy="2381250"/>
            </a:xfrm>
          </p:grpSpPr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6D882F5F-1C1D-2E73-3BE5-B79B393E592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8" name="Image 7">
                <a:extLst>
                  <a:ext uri="{FF2B5EF4-FFF2-40B4-BE49-F238E27FC236}">
                    <a16:creationId xmlns:a16="http://schemas.microsoft.com/office/drawing/2014/main" id="{457A3400-1242-6895-B5B0-CFC64E35E2B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73105E8C-BD7D-8A8A-4C6A-85561A6619E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2432050"/>
              <a:ext cx="12236450" cy="2457450"/>
              <a:chOff x="0" y="0"/>
              <a:chExt cx="11842750" cy="2381250"/>
            </a:xfrm>
          </p:grpSpPr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4FC874CE-4606-C4C6-D362-77663CF1F41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9919A377-0680-302B-EE63-BA18DACDC3E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3002EA47-1BA7-4BBB-7C4F-F805758EB31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4857750"/>
              <a:ext cx="12236450" cy="2457450"/>
              <a:chOff x="0" y="0"/>
              <a:chExt cx="11842750" cy="2381250"/>
            </a:xfrm>
          </p:grpSpPr>
          <p:pic>
            <p:nvPicPr>
              <p:cNvPr id="14" name="Image 13">
                <a:extLst>
                  <a:ext uri="{FF2B5EF4-FFF2-40B4-BE49-F238E27FC236}">
                    <a16:creationId xmlns:a16="http://schemas.microsoft.com/office/drawing/2014/main" id="{8ED61B94-8221-6441-AB32-664A8F06FF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5" name="Image 14">
                <a:extLst>
                  <a:ext uri="{FF2B5EF4-FFF2-40B4-BE49-F238E27FC236}">
                    <a16:creationId xmlns:a16="http://schemas.microsoft.com/office/drawing/2014/main" id="{88E386CB-268B-D757-5C42-94A9F507BDA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A19BD5C7-72E1-84FD-F7AA-9D66781920E7}"/>
              </a:ext>
            </a:extLst>
          </p:cNvPr>
          <p:cNvSpPr txBox="1"/>
          <p:nvPr/>
        </p:nvSpPr>
        <p:spPr>
          <a:xfrm>
            <a:off x="2435441" y="480536"/>
            <a:ext cx="6960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Retour d’expérience et limites</a:t>
            </a:r>
          </a:p>
        </p:txBody>
      </p:sp>
      <p:pic>
        <p:nvPicPr>
          <p:cNvPr id="1036" name="Picture 12" descr="Ynov Campus Paris - École des métiers du digital">
            <a:extLst>
              <a:ext uri="{FF2B5EF4-FFF2-40B4-BE49-F238E27FC236}">
                <a16:creationId xmlns:a16="http://schemas.microsoft.com/office/drawing/2014/main" id="{C3240D95-FF53-A24E-F388-2950B11EC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02" y="6425515"/>
            <a:ext cx="57841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AF86F35D-DF65-949C-3E57-703AC21B2D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80" y="6425515"/>
            <a:ext cx="609882" cy="324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6C8B80B-141F-B32A-164C-3E052241128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86661" y="6356682"/>
            <a:ext cx="584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8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E25ECFE-3C5A-6724-C79B-F8B65C8C44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781" y="2154993"/>
            <a:ext cx="2035850" cy="254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710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88B62-DA3E-FB3B-011F-B28BD3873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FF1AD987-BF29-0AFD-A74B-C524793CFCD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64872" y="0"/>
            <a:ext cx="12279097" cy="7315200"/>
            <a:chOff x="-64872" y="0"/>
            <a:chExt cx="12279097" cy="7315200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A3A720C5-4952-D9F9-F24F-D924A11473A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22225" y="0"/>
              <a:ext cx="12236450" cy="2457450"/>
              <a:chOff x="0" y="0"/>
              <a:chExt cx="11842750" cy="2381250"/>
            </a:xfrm>
          </p:grpSpPr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D63D405D-70DC-9B32-C269-75E6113D43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8" name="Image 7">
                <a:extLst>
                  <a:ext uri="{FF2B5EF4-FFF2-40B4-BE49-F238E27FC236}">
                    <a16:creationId xmlns:a16="http://schemas.microsoft.com/office/drawing/2014/main" id="{D47A6E95-D495-A399-6545-CC197361E0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B8F4E0E0-75CB-F0D3-70EA-C28FEA08383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2432050"/>
              <a:ext cx="12236450" cy="2457450"/>
              <a:chOff x="0" y="0"/>
              <a:chExt cx="11842750" cy="2381250"/>
            </a:xfrm>
          </p:grpSpPr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EA150447-FDE6-8C3C-1AED-753C6AE5DCC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BF0D5024-4C9B-71B3-4A1C-B2D3A642134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201E3CF4-3917-FD0A-BEE6-38D10B3A48C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64872" y="4857750"/>
              <a:ext cx="12236450" cy="2457450"/>
              <a:chOff x="0" y="0"/>
              <a:chExt cx="11842750" cy="2381250"/>
            </a:xfrm>
          </p:grpSpPr>
          <p:pic>
            <p:nvPicPr>
              <p:cNvPr id="14" name="Image 13">
                <a:extLst>
                  <a:ext uri="{FF2B5EF4-FFF2-40B4-BE49-F238E27FC236}">
                    <a16:creationId xmlns:a16="http://schemas.microsoft.com/office/drawing/2014/main" id="{4E4A997F-9BB8-3775-6862-F53EA6D41A1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5962650" cy="2381250"/>
              </a:xfrm>
              <a:prstGeom prst="rect">
                <a:avLst/>
              </a:prstGeom>
            </p:spPr>
          </p:pic>
          <p:pic>
            <p:nvPicPr>
              <p:cNvPr id="15" name="Image 14">
                <a:extLst>
                  <a:ext uri="{FF2B5EF4-FFF2-40B4-BE49-F238E27FC236}">
                    <a16:creationId xmlns:a16="http://schemas.microsoft.com/office/drawing/2014/main" id="{567767A2-2EAA-B166-0D7A-72B7A05B77F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alphaModFix amt="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0100" y="0"/>
                <a:ext cx="5962650" cy="2381250"/>
              </a:xfrm>
              <a:prstGeom prst="rect">
                <a:avLst/>
              </a:prstGeom>
            </p:spPr>
          </p:pic>
        </p:grp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EC91A46F-D5A9-8FF4-50DA-41148BF8D6E0}"/>
              </a:ext>
            </a:extLst>
          </p:cNvPr>
          <p:cNvSpPr txBox="1"/>
          <p:nvPr/>
        </p:nvSpPr>
        <p:spPr>
          <a:xfrm>
            <a:off x="2435441" y="480536"/>
            <a:ext cx="6960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Conclusion et Questions</a:t>
            </a:r>
            <a:endParaRPr lang="fr-FR" sz="3200" b="1" dirty="0">
              <a:solidFill>
                <a:srgbClr val="F9CD23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036" name="Picture 12" descr="Ynov Campus Paris - École des métiers du digital">
            <a:extLst>
              <a:ext uri="{FF2B5EF4-FFF2-40B4-BE49-F238E27FC236}">
                <a16:creationId xmlns:a16="http://schemas.microsoft.com/office/drawing/2014/main" id="{A632913C-51C6-3684-71E7-9884D83D9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02" y="6425515"/>
            <a:ext cx="57841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E4B2F7D4-F77F-73FE-723D-F2295A4D73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80" y="6425515"/>
            <a:ext cx="609882" cy="324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A8571B09-645C-D127-FB0F-9A602A3D46C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86661" y="6356682"/>
            <a:ext cx="584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9CD2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9</a:t>
            </a:r>
          </a:p>
        </p:txBody>
      </p:sp>
      <p:pic>
        <p:nvPicPr>
          <p:cNvPr id="4" name="Graphique 3" descr="Questions avec un remplissage uni">
            <a:extLst>
              <a:ext uri="{FF2B5EF4-FFF2-40B4-BE49-F238E27FC236}">
                <a16:creationId xmlns:a16="http://schemas.microsoft.com/office/drawing/2014/main" id="{B276C785-222E-7A8A-6EC9-D6DD23E782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2344" y="2000250"/>
            <a:ext cx="4013200" cy="4013200"/>
          </a:xfrm>
          <a:prstGeom prst="rect">
            <a:avLst/>
          </a:prstGeom>
        </p:spPr>
      </p:pic>
      <p:pic>
        <p:nvPicPr>
          <p:cNvPr id="17" name="Graphique 16" descr="Bulle de discussion avec un remplissage uni">
            <a:extLst>
              <a:ext uri="{FF2B5EF4-FFF2-40B4-BE49-F238E27FC236}">
                <a16:creationId xmlns:a16="http://schemas.microsoft.com/office/drawing/2014/main" id="{79C8BB66-86F4-C9E0-C8DD-B6FAD81BC0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01922" y="1827131"/>
            <a:ext cx="3203737" cy="320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79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f8da1bf-a12a-488e-8138-7614f90fe9b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A9D30F7E9B01429037076C9461B6DB" ma:contentTypeVersion="10" ma:contentTypeDescription="Crée un document." ma:contentTypeScope="" ma:versionID="2809e71e28531eac8e1b0fd86dbb5a28">
  <xsd:schema xmlns:xsd="http://www.w3.org/2001/XMLSchema" xmlns:xs="http://www.w3.org/2001/XMLSchema" xmlns:p="http://schemas.microsoft.com/office/2006/metadata/properties" xmlns:ns3="af8da1bf-a12a-488e-8138-7614f90fe9b4" targetNamespace="http://schemas.microsoft.com/office/2006/metadata/properties" ma:root="true" ma:fieldsID="aad58514070fae2d4de12f9e4701ade5" ns3:_="">
    <xsd:import namespace="af8da1bf-a12a-488e-8138-7614f90fe9b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8da1bf-a12a-488e-8138-7614f90fe9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9F6881-0BFD-4348-A361-D11BF3EEF4F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0433E0-A5EB-4EDA-8FCD-276D409FEA00}">
  <ds:schemaRefs>
    <ds:schemaRef ds:uri="http://purl.org/dc/elements/1.1/"/>
    <ds:schemaRef ds:uri="http://purl.org/dc/dcmitype/"/>
    <ds:schemaRef ds:uri="af8da1bf-a12a-488e-8138-7614f90fe9b4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</ds:schemaRefs>
</ds:datastoreItem>
</file>

<file path=customXml/itemProps3.xml><?xml version="1.0" encoding="utf-8"?>
<ds:datastoreItem xmlns:ds="http://schemas.openxmlformats.org/officeDocument/2006/customXml" ds:itemID="{D31FD3CE-8B94-4CAA-9D93-BB2847747D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8da1bf-a12a-488e-8138-7614f90fe9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72</Words>
  <Application>Microsoft Office PowerPoint</Application>
  <PresentationFormat>Grand écran</PresentationFormat>
  <Paragraphs>33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Aharoni</vt:lpstr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GERARD Lucas</dc:creator>
  <cp:lastModifiedBy>GERARD Lucas</cp:lastModifiedBy>
  <cp:revision>7</cp:revision>
  <dcterms:created xsi:type="dcterms:W3CDTF">2026-03-31T09:02:42Z</dcterms:created>
  <dcterms:modified xsi:type="dcterms:W3CDTF">2026-03-31T10:05:12Z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0x010100ACA9D30F7E9B01429037076C9461B6DB</vt:lpwstr>
  </property>
</Properties>
</file>